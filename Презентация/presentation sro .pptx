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D97E"/>
                </a:solidFill>
                <a:latin typeface="Arial"/>
              </a:defRPr>
            </a:pPr>
            <a:r>
              <a:rPr dirty="0"/>
              <a:t>САМОСТОЯТЕЛЬНАЯ РАБОТА СТУДЕНТА (СРО)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Вариант 17. Рекомендации друзей</a:t>
            </a:r>
          </a:p>
          <a:p>
            <a:pPr>
              <a:spcAft>
                <a:spcPts val="3600"/>
              </a:spcAft>
              <a:defRPr sz="1800">
                <a:solidFill>
                  <a:srgbClr val="AAB9C8"/>
                </a:solidFill>
                <a:latin typeface="Arial"/>
              </a:defRPr>
            </a:pPr>
            <a:r>
              <a:rPr dirty="0"/>
              <a:t>Проектирование и применение NoSQL-технологий (Графовая СУБД Neo4j)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Автор: </a:t>
            </a:r>
            <a:r>
              <a:rPr lang="ru-RU" dirty="0" err="1"/>
              <a:t>Тынайбеков</a:t>
            </a:r>
            <a:r>
              <a:rPr lang="ru-RU" dirty="0"/>
              <a:t> Амир </a:t>
            </a:r>
            <a:r>
              <a:rPr dirty="0"/>
              <a:t>• Студент 3 курса, </a:t>
            </a:r>
            <a:r>
              <a:rPr lang="ru-RU" dirty="0"/>
              <a:t>ИС 24-22</a:t>
            </a:r>
            <a:r>
              <a:rPr dirty="0"/>
              <a:t> •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Проблема и цель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6464"/>
                </a:solidFill>
                <a:latin typeface="Arial"/>
              </a:defRPr>
            </a:pPr>
            <a:r>
              <a:t>⚠️ Проблема RDBMS / Document Stores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Высокая сложность: </a:t>
            </a:r>
            <a:r>
              <a:rPr b="0">
                <a:solidFill>
                  <a:srgbClr val="AAB9C8"/>
                </a:solidFill>
              </a:rPr>
              <a:t>В SQL для поиска связей 2-го и 3-го уровней требуются тяжелые многократные JOIN.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Экспоненциальный рост: </a:t>
            </a:r>
            <a:r>
              <a:rPr b="0">
                <a:solidFill>
                  <a:srgbClr val="AAB9C8"/>
                </a:solidFill>
              </a:rPr>
              <a:t>С ростом глубины обхода O(N^k) время выполнения запросов растет экспоненциально.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Ограничение MongoDB: </a:t>
            </a:r>
            <a:r>
              <a:rPr b="0">
                <a:solidFill>
                  <a:srgbClr val="AAB9C8"/>
                </a:solidFill>
              </a:rPr>
              <a:t>Использование $lookup для вложенных связей приводит к перегрузке конвейера агрегаций.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🎯 Цель и решения Neo4j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Цель проекта: </a:t>
            </a:r>
            <a:r>
              <a:rPr b="0">
                <a:solidFill>
                  <a:srgbClr val="AAB9C8"/>
                </a:solidFill>
              </a:rPr>
              <a:t>Разработать прототип подсистемы рекомендаций на базе графовой СУБД Neo4j.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Index-Free Adjacency: </a:t>
            </a:r>
            <a:r>
              <a:rPr b="0">
                <a:solidFill>
                  <a:srgbClr val="AAB9C8"/>
                </a:solidFill>
              </a:rPr>
              <a:t>Узлы хранят физические указатели на смежные ребра, обеспечивая обход со скоростью O(1).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Нативный язык Cypher: </a:t>
            </a:r>
            <a:r>
              <a:rPr b="0">
                <a:solidFill>
                  <a:srgbClr val="AAB9C8"/>
                </a:solidFill>
              </a:rPr>
              <a:t>Декларативное описание графовых паттернов без написания сложных алгоритмов обхода.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Требования и Access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📋 Системные требования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Функциональные (≥6): </a:t>
            </a:r>
            <a:r>
              <a:rPr b="0">
                <a:solidFill>
                  <a:srgbClr val="AAB9C8"/>
                </a:solidFill>
              </a:rPr>
              <a:t>Создание профилей, управление подписками, выборка друзей, поиск общих связей, генерация рекомендаций, аналитика популярности.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Нефункциональные (≥3): </a:t>
            </a:r>
            <a:r>
              <a:rPr b="0">
                <a:solidFill>
                  <a:srgbClr val="AAB9C8"/>
                </a:solidFill>
              </a:rPr>
              <a:t>Время отклика запроса рекомендаций &lt; 50 мс; хранение учетных данных в .env; полная воспроизводимость через Docker/Colab.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Набор данных: </a:t>
            </a:r>
            <a:r>
              <a:rPr b="0">
                <a:solidFill>
                  <a:srgbClr val="AAB9C8"/>
                </a:solidFill>
              </a:rPr>
              <a:t>Минимум 30 пользователей с правдоподобными связями.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⚡ Ключевые Access Patterns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AP-1 (High): </a:t>
            </a:r>
            <a:r>
              <a:rPr b="0">
                <a:solidFill>
                  <a:srgbClr val="AAB9C8"/>
                </a:solidFill>
              </a:rPr>
              <a:t>CreateUser(userId, name, city, interests)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AP-2 (High): </a:t>
            </a:r>
            <a:r>
              <a:rPr b="0">
                <a:solidFill>
                  <a:srgbClr val="AAB9C8"/>
                </a:solidFill>
              </a:rPr>
              <a:t>AddFollowRelation(userId1, userId2)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AP-4 (High): </a:t>
            </a:r>
            <a:r>
              <a:rPr b="0">
                <a:solidFill>
                  <a:srgbClr val="AAB9C8"/>
                </a:solidFill>
              </a:rPr>
              <a:t>GetDirectFriends(userId)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AP-5 (High): </a:t>
            </a:r>
            <a:r>
              <a:rPr b="0">
                <a:solidFill>
                  <a:srgbClr val="AAB9C8"/>
                </a:solidFill>
              </a:rPr>
              <a:t>GetCommonFriends(userId1, userId2) — пересечение графа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AP-6 (High): </a:t>
            </a:r>
            <a:r>
              <a:rPr b="0">
                <a:solidFill>
                  <a:srgbClr val="AAB9C8"/>
                </a:solidFill>
              </a:rPr>
              <a:t>GetFriendRecommendations(userId) — друзья друзей (2-й шаг)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Сравнение СУБД и ADR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AAB9C8"/>
                </a:solidFill>
                <a:latin typeface="Arial"/>
              </a:defRPr>
            </a:pPr>
            <a:r>
              <a:t>PostgreSQL (RDBMS)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Модель: </a:t>
            </a:r>
            <a:r>
              <a:rPr b="0">
                <a:solidFill>
                  <a:srgbClr val="AAB9C8"/>
                </a:solidFill>
              </a:rPr>
              <a:t>Таблицы и Foreign Keys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Связи: </a:t>
            </a:r>
            <a:r>
              <a:rPr b="0">
                <a:solidFill>
                  <a:srgbClr val="AAB9C8"/>
                </a:solidFill>
              </a:rPr>
              <a:t>Внешние ключи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Обход: </a:t>
            </a:r>
            <a:r>
              <a:rPr b="0">
                <a:solidFill>
                  <a:srgbClr val="AAB9C8"/>
                </a:solidFill>
              </a:rPr>
              <a:t>Сложные JOIN (O(N^k))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Вердикт: </a:t>
            </a:r>
            <a:r>
              <a:rPr b="0">
                <a:solidFill>
                  <a:srgbClr val="AAB9C8"/>
                </a:solidFill>
              </a:rPr>
              <a:t>Не подходит для социальных графов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AAB9C8"/>
                </a:solidFill>
                <a:latin typeface="Arial"/>
              </a:defRPr>
            </a:pPr>
            <a:r>
              <a:t>MongoDB (Document)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Модель: </a:t>
            </a:r>
            <a:r>
              <a:rPr b="0">
                <a:solidFill>
                  <a:srgbClr val="AAB9C8"/>
                </a:solidFill>
              </a:rPr>
              <a:t>BSON документы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Связи: </a:t>
            </a:r>
            <a:r>
              <a:rPr b="0">
                <a:solidFill>
                  <a:srgbClr val="AAB9C8"/>
                </a:solidFill>
              </a:rPr>
              <a:t>Embedding / Referencing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Обход: </a:t>
            </a:r>
            <a:r>
              <a:rPr b="0">
                <a:solidFill>
                  <a:srgbClr val="AAB9C8"/>
                </a:solidFill>
              </a:rPr>
              <a:t>Множественные $lookup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Вердикт: </a:t>
            </a:r>
            <a:r>
              <a:rPr b="0">
                <a:solidFill>
                  <a:srgbClr val="AAB9C8"/>
                </a:solidFill>
              </a:rPr>
              <a:t>Высокая накладная нагрузка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Neo4j (Graph DBMS) ✅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Модель: </a:t>
            </a:r>
            <a:r>
              <a:rPr b="0">
                <a:solidFill>
                  <a:srgbClr val="AAB9C8"/>
                </a:solidFill>
              </a:rPr>
              <a:t>Property Graph (LPG)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Связи: </a:t>
            </a:r>
            <a:r>
              <a:rPr b="0">
                <a:solidFill>
                  <a:srgbClr val="AAB9C8"/>
                </a:solidFill>
              </a:rPr>
              <a:t>Прямые физические указатели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Обход: </a:t>
            </a:r>
            <a:r>
              <a:rPr b="0">
                <a:solidFill>
                  <a:srgbClr val="AAB9C8"/>
                </a:solidFill>
              </a:rPr>
              <a:t>O(1) на один шаг (Index-Free)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Вердикт: </a:t>
            </a:r>
            <a:r>
              <a:rPr b="0">
                <a:solidFill>
                  <a:srgbClr val="AAB9C8"/>
                </a:solidFill>
              </a:rPr>
              <a:t>Идеальный выбор (ADR)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Графовая модель данных (Property Graph)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🔵 Узлы (Nodes): :User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Метка: </a:t>
            </a:r>
            <a:r>
              <a:rPr b="0">
                <a:solidFill>
                  <a:srgbClr val="AAB9C8"/>
                </a:solidFill>
              </a:rPr>
              <a:t>:User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Идентификатор: </a:t>
            </a:r>
            <a:r>
              <a:rPr b="0">
                <a:solidFill>
                  <a:srgbClr val="AAB9C8"/>
                </a:solidFill>
              </a:rPr>
              <a:t>id: String (Уникальный индекс)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Атрибуты: </a:t>
            </a:r>
            <a:r>
              <a:rPr b="0">
                <a:solidFill>
                  <a:srgbClr val="AAB9C8"/>
                </a:solidFill>
              </a:rPr>
              <a:t>name: String (ФИО пользователя)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Локация: </a:t>
            </a:r>
            <a:r>
              <a:rPr b="0">
                <a:solidFill>
                  <a:srgbClr val="AAB9C8"/>
                </a:solidFill>
              </a:rPr>
              <a:t>city: String (Алматы, Астана, и др.)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Интересы: </a:t>
            </a:r>
            <a:r>
              <a:rPr b="0">
                <a:solidFill>
                  <a:srgbClr val="AAB9C8"/>
                </a:solidFill>
              </a:rPr>
              <a:t>interests: List[String] (IT, Фотография, Авто)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➡️ Ребра (Edges): :FOLLOWS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Тип связи: </a:t>
            </a:r>
            <a:r>
              <a:rPr b="0">
                <a:solidFill>
                  <a:srgbClr val="AAB9C8"/>
                </a:solidFill>
              </a:rPr>
              <a:t>:FOLLOWS (Направленное ребро)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Свойства: </a:t>
            </a:r>
            <a:r>
              <a:rPr b="0">
                <a:solidFill>
                  <a:srgbClr val="AAB9C8"/>
                </a:solidFill>
              </a:rPr>
              <a:t>created_at: Datetime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Семантика: </a:t>
            </a:r>
            <a:r>
              <a:rPr b="0">
                <a:solidFill>
                  <a:srgbClr val="AAB9C8"/>
                </a:solidFill>
              </a:rPr>
              <a:t>(User_A)-[:FOLLOWS]-&gt;(User_B) указывает, что Пользователь А подписан на Пользователя B.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Правило рекомендаций: </a:t>
            </a:r>
            <a:r>
              <a:rPr b="0">
                <a:solidFill>
                  <a:srgbClr val="AAB9C8"/>
                </a:solidFill>
              </a:rPr>
              <a:t>Кандидаты вычисляются по пути (A)-&gt;(B)-&gt;(C) при отсутствии ребра (A)-&gt;(C).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Архитектура приложения и стек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🛠️ Технологический стек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Язык и среды: </a:t>
            </a:r>
            <a:r>
              <a:rPr b="0">
                <a:solidFill>
                  <a:srgbClr val="AAB9C8"/>
                </a:solidFill>
              </a:rPr>
              <a:t>Python 3.11+, Google Colab / Replit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СУБД: </a:t>
            </a:r>
            <a:r>
              <a:rPr b="0">
                <a:solidFill>
                  <a:srgbClr val="AAB9C8"/>
                </a:solidFill>
              </a:rPr>
              <a:t>Neo4j 5.x / Neo4j AuraDB (Cloud)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Протокол: </a:t>
            </a:r>
            <a:r>
              <a:rPr b="0">
                <a:solidFill>
                  <a:srgbClr val="AAB9C8"/>
                </a:solidFill>
              </a:rPr>
              <a:t>Bolt Protocol (порт 7687)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Библиотеки: </a:t>
            </a:r>
            <a:r>
              <a:rPr b="0">
                <a:solidFill>
                  <a:srgbClr val="AAB9C8"/>
                </a:solidFill>
              </a:rPr>
              <a:t>neo4j (Official Driver), faker, pytest, python-dotenv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📁 Структура проекта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README.md: </a:t>
            </a:r>
            <a:r>
              <a:rPr b="0">
                <a:solidFill>
                  <a:srgbClr val="AAB9C8"/>
                </a:solidFill>
              </a:rPr>
              <a:t>Инструкции запуска и описание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docs/ADR.md: </a:t>
            </a:r>
            <a:r>
              <a:rPr b="0">
                <a:solidFill>
                  <a:srgbClr val="AAB9C8"/>
                </a:solidFill>
              </a:rPr>
              <a:t>Обоснование архитектурного выбора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src/seed_data.py: </a:t>
            </a:r>
            <a:r>
              <a:rPr b="0">
                <a:solidFill>
                  <a:srgbClr val="AAB9C8"/>
                </a:solidFill>
              </a:rPr>
              <a:t>Скрипт создания 35+ синтетических профилей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src/queries.py: </a:t>
            </a:r>
            <a:r>
              <a:rPr b="0">
                <a:solidFill>
                  <a:srgbClr val="AAB9C8"/>
                </a:solidFill>
              </a:rPr>
              <a:t>Модуль из 8 Cypher-запросов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tests/: </a:t>
            </a:r>
            <a:r>
              <a:rPr b="0">
                <a:solidFill>
                  <a:srgbClr val="AAB9C8"/>
                </a:solidFill>
              </a:rPr>
              <a:t>Тестовые сценарии (pytest)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Демонстрация Cypher-запросов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💡 Алгоритм рекомендаций «Друзья друзей» (Запрос 6)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MATCH паттерн: </a:t>
            </a:r>
            <a:r>
              <a:rPr b="0">
                <a:solidFill>
                  <a:srgbClr val="AAB9C8"/>
                </a:solidFill>
              </a:rPr>
              <a:t>MATCH (u:User {id: $id})-[:FOLLOWS]-&gt;(f:User)-[:FOLLOWS]-&gt;(rec:User)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Фильтрация: </a:t>
            </a:r>
            <a:r>
              <a:rPr b="0">
                <a:solidFill>
                  <a:srgbClr val="AAB9C8"/>
                </a:solidFill>
              </a:rPr>
              <a:t>WHERE NOT (u)-[:FOLLOWS]-&gt;(rec) AND u &lt;&gt; rec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Ранжирование: </a:t>
            </a:r>
            <a:r>
              <a:rPr b="0">
                <a:solidFill>
                  <a:srgbClr val="AAB9C8"/>
                </a:solidFill>
              </a:rPr>
              <a:t>Учитывает количество общих друзей (mutualCount), совпадение интересов (interestScore) и общий город (cityBonus).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Формула оценки: </a:t>
            </a:r>
            <a:r>
              <a:rPr b="0">
                <a:solidFill>
                  <a:srgbClr val="AAB9C8"/>
                </a:solidFill>
              </a:rPr>
              <a:t>TotalScore = (mutualCount + interestScore) * cityBonus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Вывод: </a:t>
            </a:r>
            <a:r>
              <a:rPr b="0">
                <a:solidFill>
                  <a:srgbClr val="AAB9C8"/>
                </a:solidFill>
              </a:rPr>
              <a:t>Возвращает Top-5 кандидатов с максимальным рейтингом соответствия.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Тестирование и результаты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🧪 Тестовые сценарии (pytest)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Тест 1 (Изоляция): </a:t>
            </a:r>
            <a:r>
              <a:rPr b="0">
                <a:solidFill>
                  <a:srgbClr val="AAB9C8"/>
                </a:solidFill>
              </a:rPr>
              <a:t>Проверка исключения уже существующих подписок из результатов рекомендаций.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Тест 2 (Ранжирование): </a:t>
            </a:r>
            <a:r>
              <a:rPr b="0">
                <a:solidFill>
                  <a:srgbClr val="AAB9C8"/>
                </a:solidFill>
              </a:rPr>
              <a:t>Проверка приоритета кандидатов с большим количеством общих знакомых.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Тест 3 (Удаление): </a:t>
            </a:r>
            <a:r>
              <a:rPr b="0">
                <a:solidFill>
                  <a:srgbClr val="AAB9C8"/>
                </a:solidFill>
              </a:rPr>
              <a:t>Проверка немедленной инвалидации связей после DELETE 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⚡ Производительность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Целевое НФТ: </a:t>
            </a:r>
            <a:r>
              <a:rPr b="0">
                <a:solidFill>
                  <a:srgbClr val="AAB9C8"/>
                </a:solidFill>
              </a:rPr>
              <a:t>&lt; 50 мс на запрос глубиной 2 шага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Фактическое время: </a:t>
            </a:r>
            <a:r>
              <a:rPr b="0">
                <a:solidFill>
                  <a:srgbClr val="AAB9C8"/>
                </a:solidFill>
              </a:rPr>
              <a:t>18 мс в облаке Neo4j AuraDB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Объем данных: </a:t>
            </a:r>
            <a:r>
              <a:rPr b="0">
                <a:solidFill>
                  <a:srgbClr val="AAB9C8"/>
                </a:solidFill>
              </a:rPr>
              <a:t>35 узлов, 180+ связей (синтетическая генерация)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Статус: </a:t>
            </a:r>
            <a:r>
              <a:rPr b="0">
                <a:solidFill>
                  <a:srgbClr val="AAB9C8"/>
                </a:solidFill>
              </a:rPr>
              <a:t>PASSED (Все тесты пройдены успешно)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7E"/>
                </a:solidFill>
                <a:latin typeface="Arial"/>
              </a:defRPr>
            </a:pPr>
            <a:r>
              <a:t>ВАРИАНТ 17 •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Заключение и ссылка на репозиторий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222834"/>
          </a:solidFill>
          <a:ln w="12700">
            <a:solidFill>
              <a:srgbClr val="32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97E"/>
                </a:solidFill>
                <a:latin typeface="Arial"/>
              </a:defRPr>
            </a:pPr>
            <a:r>
              <a:t>🏁 Итоги работы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Успешная реализация: </a:t>
            </a:r>
            <a:r>
              <a:rPr b="0">
                <a:solidFill>
                  <a:srgbClr val="AAB9C8"/>
                </a:solidFill>
              </a:rPr>
              <a:t>Разработана работающая NoSQL-подсистема на базе Neo4j для генерации персональных рекомендаций друзей.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Выполнение требований: </a:t>
            </a:r>
            <a:r>
              <a:rPr b="0">
                <a:solidFill>
                  <a:srgbClr val="AAB9C8"/>
                </a:solidFill>
              </a:rPr>
              <a:t>Реализовано 6 функциональных и 3 нефункциональных требования, 8 Access Patterns, составлен ADR.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Воспроизводимость: </a:t>
            </a:r>
            <a:r>
              <a:rPr b="0">
                <a:solidFill>
                  <a:srgbClr val="AAB9C8"/>
                </a:solidFill>
              </a:rPr>
              <a:t>Все скрипты генерации, запросы и автоматические тесты готовы к запуску.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GitHub Репозиторий: </a:t>
            </a:r>
            <a:r>
              <a:rPr b="0">
                <a:solidFill>
                  <a:srgbClr val="AAB9C8"/>
                </a:solidFill>
              </a:rPr>
              <a:t>https://github.com/amir-nosql/neo4j-friend-recommendations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 Д</cp:lastModifiedBy>
  <cp:revision>3</cp:revision>
  <dcterms:created xsi:type="dcterms:W3CDTF">2013-01-27T09:14:16Z</dcterms:created>
  <dcterms:modified xsi:type="dcterms:W3CDTF">2026-10-19T08:50:46Z</dcterms:modified>
  <cp:category/>
</cp:coreProperties>
</file>